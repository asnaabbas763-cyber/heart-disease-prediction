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5A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E2F1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KNN</c:v>
                  </c:pt>
                  <c:pt idx="1">
                    <c:v>Log. Reg.</c:v>
                  </c:pt>
                  <c:pt idx="2">
                    <c:v>Grad. 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81.97</c:v>
                </c:pt>
                <c:pt idx="1">
                  <c:v>80.33</c:v>
                </c:pt>
                <c:pt idx="2">
                  <c:v>81.91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4"/>
          <c:min val="7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57200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🫀 Heart Disease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Cleveland Heart Disease Dataset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· Logistic Regression · Gradient Boosting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11480" y="3337560"/>
            <a:ext cx="8321040" cy="27432"/>
          </a:xfrm>
          <a:prstGeom prst="rect">
            <a:avLst/>
          </a:prstGeom>
          <a:solidFill>
            <a:srgbClr val="2D4A72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3520440"/>
            <a:ext cx="2743200" cy="1188720"/>
          </a:xfrm>
          <a:prstGeom prst="rect">
            <a:avLst>
              <a:gd name="adj" fmla="val 6154"/>
            </a:avLst>
          </a:prstGeom>
          <a:solidFill>
            <a:srgbClr val="0D2040"/>
          </a:solidFill>
          <a:ln/>
        </p:spPr>
      </p:sp>
      <p:sp>
        <p:nvSpPr>
          <p:cNvPr id="8" name="Text 5"/>
          <p:cNvSpPr/>
          <p:nvPr/>
        </p:nvSpPr>
        <p:spPr>
          <a:xfrm>
            <a:off x="521208" y="358444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 Suresh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39776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3520440"/>
            <a:ext cx="2743200" cy="1188720"/>
          </a:xfrm>
          <a:prstGeom prst="rect">
            <a:avLst>
              <a:gd name="adj" fmla="val 6154"/>
            </a:avLst>
          </a:prstGeom>
          <a:solidFill>
            <a:srgbClr val="0D2040"/>
          </a:solidFill>
          <a:ln/>
        </p:spPr>
      </p:sp>
      <p:sp>
        <p:nvSpPr>
          <p:cNvPr id="11" name="Text 8"/>
          <p:cNvSpPr/>
          <p:nvPr/>
        </p:nvSpPr>
        <p:spPr>
          <a:xfrm>
            <a:off x="3447288" y="358444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Fathima 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47288" y="39776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5–8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3520440"/>
            <a:ext cx="2743200" cy="1188720"/>
          </a:xfrm>
          <a:prstGeom prst="rect">
            <a:avLst>
              <a:gd name="adj" fmla="val 6154"/>
            </a:avLst>
          </a:prstGeom>
          <a:solidFill>
            <a:srgbClr val="0D2040"/>
          </a:solidFill>
          <a:ln/>
        </p:spPr>
      </p:sp>
      <p:sp>
        <p:nvSpPr>
          <p:cNvPr id="14" name="Text 11"/>
          <p:cNvSpPr/>
          <p:nvPr/>
        </p:nvSpPr>
        <p:spPr>
          <a:xfrm>
            <a:off x="6373368" y="358444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Asna Abbas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73368" y="39776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9–10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Academic Year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Problem Statement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566160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is a leading cause of death globally.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dramatically improves patient outcomes.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clinical diagnosis requires multiple tests and expert judgement.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limited in resource-constrained healthcare settings.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14800" cy="35661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914400"/>
            <a:ext cx="109728" cy="3566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ML classifier using 13 clinical attributes.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data-driven preliminary cardiac screening.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ML pipeline: raw data → deployed web app.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clinical decision-making at scale.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Cleveland Heart Disease Dataset · 303 patients · 13 features · Binary classification (Heart Disease: Yes / No)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20240" cy="105156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1920240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92024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868680"/>
            <a:ext cx="1920240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057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Glossary — Key Clinical Attributes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8412480" cy="2514600"/>
        </p:xfrm>
        <a:graphic>
          <a:graphicData uri="http://schemas.openxmlformats.org/drawingml/2006/table">
            <a:tbl>
              <a:tblPr/>
              <a:tblGrid>
                <a:gridCol w="1280160"/>
                <a:gridCol w="530352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in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pain type (0–3)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heart rate achieved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vessels coloured by fluoroscopy (0–3)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Thalassemia type (normal / fixed / reversible)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 depression induced by exercise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Exercise-induced angina (1=yes)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 diagnosis (1=disease, 0=none)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ML Pipeline — 10 Stage Life Cycle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1005840"/>
            <a:ext cx="1600200" cy="13258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789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1463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664208"/>
            <a:ext cx="164592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1005840"/>
            <a:ext cx="1600200" cy="13258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1993392" y="10789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93392" y="1463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93392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93592" y="1664208"/>
            <a:ext cx="164592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58184" y="1005840"/>
            <a:ext cx="1600200" cy="13258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3758184" y="10789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58184" y="1463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58184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58384" y="1664208"/>
            <a:ext cx="164592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22976" y="1005840"/>
            <a:ext cx="1600200" cy="13258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5522976" y="10789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22976" y="1463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22976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23176" y="1664208"/>
            <a:ext cx="164592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87768" y="1005840"/>
            <a:ext cx="1600200" cy="132588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24" name="Text 22"/>
          <p:cNvSpPr/>
          <p:nvPr/>
        </p:nvSpPr>
        <p:spPr>
          <a:xfrm>
            <a:off x="7287768" y="10789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87768" y="1463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87768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606040"/>
            <a:ext cx="1600200" cy="132588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26791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28600" y="3063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" y="36118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0" y="3264408"/>
            <a:ext cx="164592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93392" y="2606040"/>
            <a:ext cx="1600200" cy="132588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33" name="Text 31"/>
          <p:cNvSpPr/>
          <p:nvPr/>
        </p:nvSpPr>
        <p:spPr>
          <a:xfrm>
            <a:off x="1993392" y="26791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993392" y="3063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93392" y="36118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93592" y="3264408"/>
            <a:ext cx="164592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58184" y="2606040"/>
            <a:ext cx="1600200" cy="132588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38" name="Text 36"/>
          <p:cNvSpPr/>
          <p:nvPr/>
        </p:nvSpPr>
        <p:spPr>
          <a:xfrm>
            <a:off x="3758184" y="26791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758184" y="3063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58184" y="36118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58384" y="3264408"/>
            <a:ext cx="164592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22976" y="2606040"/>
            <a:ext cx="1600200" cy="132588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43" name="Text 41"/>
          <p:cNvSpPr/>
          <p:nvPr/>
        </p:nvSpPr>
        <p:spPr>
          <a:xfrm>
            <a:off x="5522976" y="26791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522976" y="3063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22976" y="36118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23176" y="3264408"/>
            <a:ext cx="164592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87768" y="2606040"/>
            <a:ext cx="1600200" cy="132588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48" name="Text 46"/>
          <p:cNvSpPr/>
          <p:nvPr/>
        </p:nvSpPr>
        <p:spPr>
          <a:xfrm>
            <a:off x="7287768" y="26791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287768" y="3063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87768" y="36118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371600" y="4434840"/>
            <a:ext cx="228600" cy="2286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2" name="Text 50"/>
          <p:cNvSpPr/>
          <p:nvPr/>
        </p:nvSpPr>
        <p:spPr>
          <a:xfrm>
            <a:off x="1664208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 Suresh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931920" y="4434840"/>
            <a:ext cx="228600" cy="22860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54" name="Text 52"/>
          <p:cNvSpPr/>
          <p:nvPr/>
        </p:nvSpPr>
        <p:spPr>
          <a:xfrm>
            <a:off x="4224528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Fathima M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92240" y="4434840"/>
            <a:ext cx="228600" cy="22860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56" name="Text 54"/>
          <p:cNvSpPr/>
          <p:nvPr/>
        </p:nvSpPr>
        <p:spPr>
          <a:xfrm>
            <a:off x="6784848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Asna Abbas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1–4: Problem Definition, Data Collection, Preprocessing &amp; EDA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89520" y="182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 Suresh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97480" cy="21945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68680"/>
            <a:ext cx="2697480" cy="40233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052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Definition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task framing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Defined: accuracy, precision, recall, F1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on cardiac ML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27248" y="868680"/>
            <a:ext cx="2697480" cy="21945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3127248" y="868680"/>
            <a:ext cx="2697480" cy="40233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9052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 Collection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18688" y="1344168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Dataset — 303 records, 14 cols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profiling: dtypes, null counts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summaries &amp; class balance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868680"/>
            <a:ext cx="2697480" cy="21945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868680"/>
            <a:ext cx="2697480" cy="40233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9052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Preprocessing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1344168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&amp; erroneous values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numerical features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train/test split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8503920" cy="40233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23697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Exploratory Data Analysis (EDA)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675888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 analysis across patient records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 distribution (54.5% disease vs 45.5% no disease)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across all 13 features to identify co-linearity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for outlier detection in numerical variables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chest-pain-type breakdowns vs diagnosis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Feature Engineering &amp; Selection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182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Fathima 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23360" cy="3977640"/>
          </a:xfrm>
          <a:prstGeom prst="rect">
            <a:avLst/>
          </a:prstGeom>
          <a:solidFill>
            <a:srgbClr val="EAFA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Methods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5361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dependencies between features and the target variable.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999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36499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associations between categorical features and the diagnosis target.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868680"/>
            <a:ext cx="4251960" cy="3977640"/>
          </a:xfrm>
          <a:prstGeom prst="rect">
            <a:avLst/>
          </a:prstGeom>
          <a:solidFill>
            <a:srgbClr val="EAF5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Selected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1353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from 13 → 4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737360"/>
            <a:ext cx="39776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737360"/>
            <a:ext cx="365760" cy="62179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73736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38928" y="1773936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38928" y="20574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Type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1883664"/>
            <a:ext cx="19202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1883664"/>
            <a:ext cx="1689811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2487168"/>
            <a:ext cx="39776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2487168"/>
            <a:ext cx="365760" cy="62179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487168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38928" y="2523744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38928" y="280720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Heart Rate Achieved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2633472"/>
            <a:ext cx="19202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0" y="2633472"/>
            <a:ext cx="1459382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4709160" y="3236976"/>
            <a:ext cx="39776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709160" y="3236976"/>
            <a:ext cx="365760" cy="62179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236976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38928" y="3273552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38928" y="355701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Vessels (fluoroscopy)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3383280"/>
            <a:ext cx="19202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0" y="3383280"/>
            <a:ext cx="1228954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Shape 35"/>
          <p:cNvSpPr/>
          <p:nvPr/>
        </p:nvSpPr>
        <p:spPr>
          <a:xfrm>
            <a:off x="4709160" y="3986784"/>
            <a:ext cx="39776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709160" y="3986784"/>
            <a:ext cx="365760" cy="62179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3986784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38928" y="4023360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38928" y="43068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Thalassemia Classification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0" y="4133088"/>
            <a:ext cx="19202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6583680" y="4133088"/>
            <a:ext cx="1056132" cy="18288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Model Building &amp; Training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182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Fathima 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2608" y="868680"/>
            <a:ext cx="2743200" cy="4023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68680"/>
            <a:ext cx="2743200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886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Production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1488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learning algorithm that classifies patients based on the k most similar training records.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3063240"/>
            <a:ext cx="25603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3127248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with optimal k via cross-validation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metric: Euclidean on scaled features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as production 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743200" cy="4023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886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1435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1488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probabilistic classifier modeling log-odds of heart disease from clinical inputs.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063240"/>
            <a:ext cx="25603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3127248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 to prevent overfitting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feature coefficients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linear baseline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08192" y="868680"/>
            <a:ext cx="2743200" cy="4023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08192" y="868680"/>
            <a:ext cx="2743200" cy="502920"/>
          </a:xfrm>
          <a:prstGeom prst="rect">
            <a:avLst/>
          </a:prstGeom>
          <a:solidFill>
            <a:srgbClr val="6E2F1A"/>
          </a:solidFill>
          <a:ln/>
        </p:spPr>
      </p:sp>
      <p:sp>
        <p:nvSpPr>
          <p:cNvPr id="23" name="Text 21"/>
          <p:cNvSpPr/>
          <p:nvPr/>
        </p:nvSpPr>
        <p:spPr>
          <a:xfrm>
            <a:off x="6108192" y="886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99632" y="1435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9632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21488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weak decision trees built sequentially to correct prior errors.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9632" y="3063240"/>
            <a:ext cx="25603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3127248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tree-based method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default hyperparameters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Underperformed on small dataset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Model Evaluation &amp;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0" y="182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Fathima M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64592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KNN (Production)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3017520"/>
          <a:ext cx="4206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4846320" y="2651760"/>
            <a:ext cx="3931920" cy="21945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Shape 5"/>
          <p:cNvSpPr/>
          <p:nvPr/>
        </p:nvSpPr>
        <p:spPr>
          <a:xfrm>
            <a:off x="4846320" y="2651760"/>
            <a:ext cx="109728" cy="21945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KNN?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0" y="3154680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overall accuracy at 81.97%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F1-Score of 84.93% — balanced precision &amp; recall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(93.94%) — minimises missed diagnoses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and deployed as the production model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9: Deployment — Streamlit Web Application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680960" y="182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Asna Abbas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1572768" cy="84124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96112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heart_model.pkl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47088" y="1316736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896112"/>
            <a:ext cx="1572768" cy="841248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9" name="Text 7"/>
          <p:cNvSpPr/>
          <p:nvPr/>
        </p:nvSpPr>
        <p:spPr>
          <a:xfrm>
            <a:off x="1993392" y="896112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316736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2464" y="896112"/>
            <a:ext cx="1572768" cy="841248"/>
          </a:xfrm>
          <a:prstGeom prst="rect">
            <a:avLst/>
          </a:prstGeom>
          <a:solidFill>
            <a:srgbClr val="6E2F1A"/>
          </a:solidFill>
          <a:ln/>
        </p:spPr>
      </p:sp>
      <p:sp>
        <p:nvSpPr>
          <p:cNvPr id="12" name="Text 10"/>
          <p:cNvSpPr/>
          <p:nvPr/>
        </p:nvSpPr>
        <p:spPr>
          <a:xfrm>
            <a:off x="3712464" y="896112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Serialised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85232" y="1316736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31536" y="896112"/>
            <a:ext cx="1572768" cy="841248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15" name="Text 13"/>
          <p:cNvSpPr/>
          <p:nvPr/>
        </p:nvSpPr>
        <p:spPr>
          <a:xfrm>
            <a:off x="5431536" y="896112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(app.py)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04304" y="1316736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0608" y="896112"/>
            <a:ext cx="1572768" cy="841248"/>
          </a:xfrm>
          <a:prstGeom prst="rect">
            <a:avLst/>
          </a:prstGeom>
          <a:solidFill>
            <a:srgbClr val="1A7050"/>
          </a:solidFill>
          <a:ln/>
        </p:spPr>
      </p:sp>
      <p:sp>
        <p:nvSpPr>
          <p:cNvPr id="18" name="Text 16"/>
          <p:cNvSpPr/>
          <p:nvPr/>
        </p:nvSpPr>
        <p:spPr>
          <a:xfrm>
            <a:off x="7150608" y="896112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920240"/>
            <a:ext cx="4206240" cy="1115568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920240"/>
            <a:ext cx="91440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1993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Sidebar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23591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all 13 patient clinical parameters with input sliders and dropdowns.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920240"/>
            <a:ext cx="4206240" cy="1115568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920240"/>
            <a:ext cx="91440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993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23591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cardiac risk classification (High Risk / Low Risk) on submit.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4206240" cy="1115568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00400"/>
            <a:ext cx="91440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273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UI Theme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36393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clinical cyberpunk design with animated feedback elements.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200400"/>
            <a:ext cx="4206240" cy="1115568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200400"/>
            <a:ext cx="91440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273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363931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model + StandardScaler serialised &amp; served via Streamlit Cloud.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54456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Live App: https://heart-disease-prediction-3ycj5odppblq8pchewpxv4.streamlit.app/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Results &amp; 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92608" y="932688"/>
            <a:ext cx="1993392" cy="13716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98755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81.97%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92608" y="16276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" y="194767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932688"/>
            <a:ext cx="1993392" cy="137160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98755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6276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94767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45152" y="932688"/>
            <a:ext cx="199339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98755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5152" y="16276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5152" y="194767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Minimised missed diagnoses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21424" y="932688"/>
            <a:ext cx="1993392" cy="137160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16" name="Text 14"/>
          <p:cNvSpPr/>
          <p:nvPr/>
        </p:nvSpPr>
        <p:spPr>
          <a:xfrm>
            <a:off x="6821424" y="98755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→ 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21424" y="16276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21424" y="194767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" y="2423160"/>
            <a:ext cx="8577072" cy="347472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597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28346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outperformed both Logistic Regression and Gradient Boosting on this clinical dataset.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via Mutual Information &amp; Chi-Square reduced 13 → 4 features without accuracy loss.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(93.94%) is critical — the model minimises the risk of missed cardiac diagnoses.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fully end-to-end: from raw CSV data to a live, publicly accessible Streamlit application.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0E1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❤️ by  Anagha Suresh · Hiba Fathima M · Asna Abbas  |  Predictive Analytics 2025–26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</dc:title>
  <dc:subject>PptxGenJS Presentation</dc:subject>
  <dc:creator>PptxGenJS</dc:creator>
  <cp:lastModifiedBy>PptxGenJS</cp:lastModifiedBy>
  <cp:revision>1</cp:revision>
  <dcterms:created xsi:type="dcterms:W3CDTF">2026-05-16T17:41:30Z</dcterms:created>
  <dcterms:modified xsi:type="dcterms:W3CDTF">2026-05-16T17:41:30Z</dcterms:modified>
</cp:coreProperties>
</file>